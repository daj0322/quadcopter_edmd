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2"/>
  </p:notesMasterIdLst>
  <p:handoutMasterIdLst>
    <p:handoutMasterId r:id="rId13"/>
  </p:handoutMasterIdLst>
  <p:sldIdLst>
    <p:sldId id="257" r:id="rId2"/>
    <p:sldId id="380" r:id="rId3"/>
    <p:sldId id="381" r:id="rId4"/>
    <p:sldId id="379" r:id="rId5"/>
    <p:sldId id="384" r:id="rId6"/>
    <p:sldId id="385" r:id="rId7"/>
    <p:sldId id="383" r:id="rId8"/>
    <p:sldId id="382" r:id="rId9"/>
    <p:sldId id="359" r:id="rId10"/>
    <p:sldId id="3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D5"/>
    <a:srgbClr val="FFFF99"/>
    <a:srgbClr val="FDD023"/>
    <a:srgbClr val="461D7C"/>
    <a:srgbClr val="B85808"/>
    <a:srgbClr val="DAE7F6"/>
    <a:srgbClr val="C2EEF4"/>
    <a:srgbClr val="B6434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E3F2C-D9F8-484A-9F6C-8FC15E825628}" v="1" dt="2026-04-16T15:43:55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A Johnson" userId="9a897798-24bb-440a-bbe0-295195dad661" providerId="ADAL" clId="{D5D3F70E-6E5A-4686-A1F4-CEE108FE9F1D}"/>
    <pc:docChg chg="custSel modSld">
      <pc:chgData name="Darren A Johnson" userId="9a897798-24bb-440a-bbe0-295195dad661" providerId="ADAL" clId="{D5D3F70E-6E5A-4686-A1F4-CEE108FE9F1D}" dt="2026-04-16T15:47:28.410" v="130" actId="478"/>
      <pc:docMkLst>
        <pc:docMk/>
      </pc:docMkLst>
      <pc:sldChg chg="delSp modSp mod">
        <pc:chgData name="Darren A Johnson" userId="9a897798-24bb-440a-bbe0-295195dad661" providerId="ADAL" clId="{D5D3F70E-6E5A-4686-A1F4-CEE108FE9F1D}" dt="2026-04-16T15:47:28.410" v="130" actId="478"/>
        <pc:sldMkLst>
          <pc:docMk/>
          <pc:sldMk cId="2491938915" sldId="257"/>
        </pc:sldMkLst>
        <pc:spChg chg="mod">
          <ac:chgData name="Darren A Johnson" userId="9a897798-24bb-440a-bbe0-295195dad661" providerId="ADAL" clId="{D5D3F70E-6E5A-4686-A1F4-CEE108FE9F1D}" dt="2026-04-16T15:43:55.558" v="0"/>
          <ac:spMkLst>
            <pc:docMk/>
            <pc:sldMk cId="2491938915" sldId="257"/>
            <ac:spMk id="2" creationId="{ECDA45D0-AC88-384D-9550-268912D555F7}"/>
          </ac:spMkLst>
        </pc:spChg>
        <pc:spChg chg="mod">
          <ac:chgData name="Darren A Johnson" userId="9a897798-24bb-440a-bbe0-295195dad661" providerId="ADAL" clId="{D5D3F70E-6E5A-4686-A1F4-CEE108FE9F1D}" dt="2026-04-16T15:47:15.328" v="127" actId="20577"/>
          <ac:spMkLst>
            <pc:docMk/>
            <pc:sldMk cId="2491938915" sldId="257"/>
            <ac:spMk id="10" creationId="{DF7A41E5-FACD-E3D4-B00E-5C6884A31477}"/>
          </ac:spMkLst>
        </pc:spChg>
        <pc:spChg chg="del">
          <ac:chgData name="Darren A Johnson" userId="9a897798-24bb-440a-bbe0-295195dad661" providerId="ADAL" clId="{D5D3F70E-6E5A-4686-A1F4-CEE108FE9F1D}" dt="2026-04-16T15:46:45.319" v="111" actId="478"/>
          <ac:spMkLst>
            <pc:docMk/>
            <pc:sldMk cId="2491938915" sldId="257"/>
            <ac:spMk id="11" creationId="{BF2F6618-E650-04E7-611F-31E80E1311B4}"/>
          </ac:spMkLst>
        </pc:spChg>
        <pc:spChg chg="mod">
          <ac:chgData name="Darren A Johnson" userId="9a897798-24bb-440a-bbe0-295195dad661" providerId="ADAL" clId="{D5D3F70E-6E5A-4686-A1F4-CEE108FE9F1D}" dt="2026-04-16T15:46:40.877" v="110" actId="1076"/>
          <ac:spMkLst>
            <pc:docMk/>
            <pc:sldMk cId="2491938915" sldId="257"/>
            <ac:spMk id="12" creationId="{93C287AC-644E-15F3-DD91-1EDA4EB8C2F9}"/>
          </ac:spMkLst>
        </pc:spChg>
        <pc:spChg chg="del mod">
          <ac:chgData name="Darren A Johnson" userId="9a897798-24bb-440a-bbe0-295195dad661" providerId="ADAL" clId="{D5D3F70E-6E5A-4686-A1F4-CEE108FE9F1D}" dt="2026-04-16T15:46:16.118" v="107" actId="478"/>
          <ac:spMkLst>
            <pc:docMk/>
            <pc:sldMk cId="2491938915" sldId="257"/>
            <ac:spMk id="18" creationId="{4C3C7ABD-CF0A-A5CE-E135-946980F4DFCF}"/>
          </ac:spMkLst>
        </pc:spChg>
        <pc:spChg chg="del">
          <ac:chgData name="Darren A Johnson" userId="9a897798-24bb-440a-bbe0-295195dad661" providerId="ADAL" clId="{D5D3F70E-6E5A-4686-A1F4-CEE108FE9F1D}" dt="2026-04-16T15:47:24.791" v="128" actId="478"/>
          <ac:spMkLst>
            <pc:docMk/>
            <pc:sldMk cId="2491938915" sldId="257"/>
            <ac:spMk id="19" creationId="{3775E871-030F-65AF-FC10-61E377169EF6}"/>
          </ac:spMkLst>
        </pc:spChg>
        <pc:spChg chg="del">
          <ac:chgData name="Darren A Johnson" userId="9a897798-24bb-440a-bbe0-295195dad661" providerId="ADAL" clId="{D5D3F70E-6E5A-4686-A1F4-CEE108FE9F1D}" dt="2026-04-16T15:46:52.067" v="113" actId="478"/>
          <ac:spMkLst>
            <pc:docMk/>
            <pc:sldMk cId="2491938915" sldId="257"/>
            <ac:spMk id="31" creationId="{25A7FA59-DE79-1E92-9C80-967BA6F5BDE5}"/>
          </ac:spMkLst>
        </pc:spChg>
        <pc:cxnChg chg="del">
          <ac:chgData name="Darren A Johnson" userId="9a897798-24bb-440a-bbe0-295195dad661" providerId="ADAL" clId="{D5D3F70E-6E5A-4686-A1F4-CEE108FE9F1D}" dt="2026-04-16T15:46:46.821" v="112" actId="478"/>
          <ac:cxnSpMkLst>
            <pc:docMk/>
            <pc:sldMk cId="2491938915" sldId="257"/>
            <ac:cxnSpMk id="4" creationId="{A824754D-E6C0-5930-48E3-F9C360F3D24E}"/>
          </ac:cxnSpMkLst>
        </pc:cxnChg>
        <pc:cxnChg chg="del">
          <ac:chgData name="Darren A Johnson" userId="9a897798-24bb-440a-bbe0-295195dad661" providerId="ADAL" clId="{D5D3F70E-6E5A-4686-A1F4-CEE108FE9F1D}" dt="2026-04-16T15:46:18.123" v="108" actId="478"/>
          <ac:cxnSpMkLst>
            <pc:docMk/>
            <pc:sldMk cId="2491938915" sldId="257"/>
            <ac:cxnSpMk id="14" creationId="{5DDEF6F5-631E-4F6B-A195-453B9E246378}"/>
          </ac:cxnSpMkLst>
        </pc:cxnChg>
        <pc:cxnChg chg="del">
          <ac:chgData name="Darren A Johnson" userId="9a897798-24bb-440a-bbe0-295195dad661" providerId="ADAL" clId="{D5D3F70E-6E5A-4686-A1F4-CEE108FE9F1D}" dt="2026-04-16T15:47:26.764" v="129" actId="478"/>
          <ac:cxnSpMkLst>
            <pc:docMk/>
            <pc:sldMk cId="2491938915" sldId="257"/>
            <ac:cxnSpMk id="21" creationId="{37DFED4B-0C38-7F95-4287-5013F2B8B67A}"/>
          </ac:cxnSpMkLst>
        </pc:cxnChg>
        <pc:cxnChg chg="del mod">
          <ac:chgData name="Darren A Johnson" userId="9a897798-24bb-440a-bbe0-295195dad661" providerId="ADAL" clId="{D5D3F70E-6E5A-4686-A1F4-CEE108FE9F1D}" dt="2026-04-16T15:47:28.410" v="130" actId="478"/>
          <ac:cxnSpMkLst>
            <pc:docMk/>
            <pc:sldMk cId="2491938915" sldId="257"/>
            <ac:cxnSpMk id="32" creationId="{6B59608D-EF78-4932-A409-F2078C6880B6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4644-5EA3-B5AD-D7A5-8E3D9C12D1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426A1-6DDA-72F5-72C7-0306A7B06E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A6BFA-36E3-491E-A062-B9542EC969B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90229-376D-D07F-BF7D-D97C564B35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F361F-A2C2-605F-A891-BBB788F63E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0229B-3CA2-455A-91CB-9CEA5485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91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0526D-513F-1448-89DC-CF1FD3F178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F0D30-198B-5746-9712-F8607205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4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4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1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9891623" cy="648138"/>
          </a:xfrm>
          <a:prstGeom prst="rect">
            <a:avLst/>
          </a:prstGeom>
          <a:solidFill>
            <a:srgbClr val="350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019111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24818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6144" y="6313947"/>
            <a:ext cx="6180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FCFAA3B7-4689-AA47-B87F-0C0066A450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SU_Gold_RGB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28" y="85998"/>
            <a:ext cx="1249563" cy="46858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F56F48-536B-50D6-8286-119C626F04F8}"/>
              </a:ext>
            </a:extLst>
          </p:cNvPr>
          <p:cNvCxnSpPr/>
          <p:nvPr userDrawn="1"/>
        </p:nvCxnSpPr>
        <p:spPr>
          <a:xfrm>
            <a:off x="1394691" y="85998"/>
            <a:ext cx="0" cy="468586"/>
          </a:xfrm>
          <a:prstGeom prst="line">
            <a:avLst/>
          </a:prstGeom>
          <a:ln>
            <a:solidFill>
              <a:srgbClr val="FDD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9BC1509-999E-13EF-A6AE-448C6032D1F9}"/>
              </a:ext>
            </a:extLst>
          </p:cNvPr>
          <p:cNvSpPr txBox="1">
            <a:spLocks/>
          </p:cNvSpPr>
          <p:nvPr userDrawn="1"/>
        </p:nvSpPr>
        <p:spPr>
          <a:xfrm>
            <a:off x="1486701" y="14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rgbClr val="FDD023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/>
              <a:t>Louisiana State University</a:t>
            </a:r>
          </a:p>
          <a:p>
            <a:r>
              <a:rPr lang="en-US" sz="1400" b="0">
                <a:latin typeface="Arial" panose="020B0604020202020204" pitchFamily="34" charset="0"/>
                <a:cs typeface="Arial" panose="020B0604020202020204" pitchFamily="34" charset="0"/>
              </a:rPr>
              <a:t>College of Engineering</a:t>
            </a:r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9D17D6CD-B8AB-A6CF-E759-D346DB03926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6751" y="146355"/>
            <a:ext cx="2010121" cy="45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1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350D68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50D68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50D68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50D68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50D68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50D68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astein@lsu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trlstein.com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45D0-AC88-384D-9550-268912D55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149" y="960832"/>
            <a:ext cx="9667875" cy="718203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Drone Interception via </a:t>
            </a:r>
            <a:r>
              <a:rPr lang="en-US" sz="2400" b="1" dirty="0" err="1">
                <a:latin typeface="Georgia" panose="02040502050405020303" pitchFamily="18" charset="0"/>
                <a:cs typeface="Times New Roman" panose="02020603050405020304" pitchFamily="18" charset="0"/>
              </a:rPr>
              <a:t>EDMDc</a:t>
            </a:r>
            <a:r>
              <a:rPr 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-Based Model Predictive Control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EFFE6-147A-F05D-AE6F-C1EE1A19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287AC-644E-15F3-DD91-1EDA4EB8C2F9}"/>
              </a:ext>
            </a:extLst>
          </p:cNvPr>
          <p:cNvSpPr txBox="1"/>
          <p:nvPr/>
        </p:nvSpPr>
        <p:spPr>
          <a:xfrm>
            <a:off x="904875" y="1958626"/>
            <a:ext cx="5682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D. Johnson, A. Bengal, Y.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Atteia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T.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Hlayel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S. Maharjan*, and A. Stein</a:t>
            </a:r>
          </a:p>
        </p:txBody>
      </p:sp>
      <p:pic>
        <p:nvPicPr>
          <p:cNvPr id="6" name="Picture 2" descr="undefined">
            <a:extLst>
              <a:ext uri="{FF2B5EF4-FFF2-40B4-BE49-F238E27FC236}">
                <a16:creationId xmlns:a16="http://schemas.microsoft.com/office/drawing/2014/main" id="{C50378CB-BAF2-3C24-30B3-A895D515C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688" y="3436851"/>
            <a:ext cx="1959389" cy="163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9CDA7B-2C0D-0975-C1BB-367DDB64D9C1}"/>
              </a:ext>
            </a:extLst>
          </p:cNvPr>
          <p:cNvSpPr txBox="1"/>
          <p:nvPr/>
        </p:nvSpPr>
        <p:spPr>
          <a:xfrm>
            <a:off x="904876" y="2449213"/>
            <a:ext cx="8820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Department of Mechanical &amp; Industrial Engineering Louisiana State University (LSU), Baton Rouge, 70803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7A41E5-FACD-E3D4-B00E-5C6884A31477}"/>
              </a:ext>
            </a:extLst>
          </p:cNvPr>
          <p:cNvSpPr txBox="1"/>
          <p:nvPr/>
        </p:nvSpPr>
        <p:spPr>
          <a:xfrm>
            <a:off x="904875" y="3092234"/>
            <a:ext cx="2694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*Presenter (smaha12@lsu.edu)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BAFAF2-49D1-6985-092B-D742566AF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771" y="5226660"/>
            <a:ext cx="3166287" cy="612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9B18F6-AA9C-39C3-F535-0C0006363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771" y="5804312"/>
            <a:ext cx="3166287" cy="49921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5704C2-A0FD-89FE-D984-0AD82C72175F}"/>
              </a:ext>
            </a:extLst>
          </p:cNvPr>
          <p:cNvCxnSpPr>
            <a:cxnSpLocks/>
          </p:cNvCxnSpPr>
          <p:nvPr/>
        </p:nvCxnSpPr>
        <p:spPr>
          <a:xfrm>
            <a:off x="5715000" y="5226660"/>
            <a:ext cx="0" cy="10768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9A77E4-671C-DCE8-9852-825366371AFF}"/>
              </a:ext>
            </a:extLst>
          </p:cNvPr>
          <p:cNvSpPr txBox="1"/>
          <p:nvPr/>
        </p:nvSpPr>
        <p:spPr>
          <a:xfrm>
            <a:off x="5919944" y="5380371"/>
            <a:ext cx="35621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European Safety and Reliability (ESREL) &amp;</a:t>
            </a:r>
          </a:p>
          <a:p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Society for Risk Analysis Europe (SRA-E ) conference</a:t>
            </a:r>
          </a:p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June 15-19, 2025 | Stavanger, Norway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4984D-339C-3A1A-CAD6-0E9223AF69E0}"/>
              </a:ext>
            </a:extLst>
          </p:cNvPr>
          <p:cNvSpPr txBox="1"/>
          <p:nvPr/>
        </p:nvSpPr>
        <p:spPr>
          <a:xfrm>
            <a:off x="7925993" y="3816808"/>
            <a:ext cx="2583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(Sponsoring organization)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C8D29A-AF6E-A8BC-E889-54DA5CACCB8D}"/>
              </a:ext>
            </a:extLst>
          </p:cNvPr>
          <p:cNvCxnSpPr>
            <a:cxnSpLocks/>
          </p:cNvCxnSpPr>
          <p:nvPr/>
        </p:nvCxnSpPr>
        <p:spPr>
          <a:xfrm flipH="1">
            <a:off x="7500599" y="4023235"/>
            <a:ext cx="4253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C8C147-8CFF-B00D-A7BC-98EDAEE26864}"/>
              </a:ext>
            </a:extLst>
          </p:cNvPr>
          <p:cNvCxnSpPr>
            <a:cxnSpLocks/>
          </p:cNvCxnSpPr>
          <p:nvPr/>
        </p:nvCxnSpPr>
        <p:spPr>
          <a:xfrm flipH="1">
            <a:off x="7292081" y="4855901"/>
            <a:ext cx="280515" cy="4395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4DAC0AF-AE0D-BB8B-5D2C-3AB26987D1AA}"/>
              </a:ext>
            </a:extLst>
          </p:cNvPr>
          <p:cNvSpPr txBox="1"/>
          <p:nvPr/>
        </p:nvSpPr>
        <p:spPr>
          <a:xfrm>
            <a:off x="7701042" y="4368420"/>
            <a:ext cx="1721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Conference Title</a:t>
            </a:r>
          </a:p>
          <a:p>
            <a:r>
              <a:rPr lang="en-US">
                <a:solidFill>
                  <a:srgbClr val="FF0000"/>
                </a:solidFill>
              </a:rPr>
              <a:t>Date | Place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FE61AE-0A80-6806-B2A2-438F2E0AF35F}"/>
              </a:ext>
            </a:extLst>
          </p:cNvPr>
          <p:cNvSpPr txBox="1"/>
          <p:nvPr/>
        </p:nvSpPr>
        <p:spPr>
          <a:xfrm>
            <a:off x="1947861" y="4183114"/>
            <a:ext cx="1759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Conference Logo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D16FF7-F1E7-314E-6FC4-73309E235255}"/>
              </a:ext>
            </a:extLst>
          </p:cNvPr>
          <p:cNvCxnSpPr>
            <a:cxnSpLocks/>
          </p:cNvCxnSpPr>
          <p:nvPr/>
        </p:nvCxnSpPr>
        <p:spPr>
          <a:xfrm>
            <a:off x="2359380" y="4610691"/>
            <a:ext cx="269889" cy="589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93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7041-23EB-4D5C-AD29-D35699FD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CFC0E-0AB9-A427-D2B3-BBA230787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069" y="1758978"/>
            <a:ext cx="8229600" cy="12775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Test 1</a:t>
            </a:r>
            <a:endParaRPr lang="en-US" sz="1800" b="1">
              <a:ea typeface="Calibri"/>
              <a:cs typeface="Calibri"/>
            </a:endParaRPr>
          </a:p>
          <a:p>
            <a:endParaRPr lang="en-US" sz="1800" b="1">
              <a:ea typeface="Calibri"/>
              <a:cs typeface="Calibri"/>
            </a:endParaRPr>
          </a:p>
          <a:p>
            <a:r>
              <a:rPr lang="en-US" sz="1800"/>
              <a:t>Test 2</a:t>
            </a:r>
          </a:p>
          <a:p>
            <a:pPr lvl="1"/>
            <a:endParaRPr lang="en-US" sz="14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FB9EE-7241-86B6-F55A-96A5DC2C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9837BA-4325-004A-C9CE-34188F0F4724}"/>
              </a:ext>
            </a:extLst>
          </p:cNvPr>
          <p:cNvSpPr txBox="1">
            <a:spLocks/>
          </p:cNvSpPr>
          <p:nvPr/>
        </p:nvSpPr>
        <p:spPr>
          <a:xfrm>
            <a:off x="1076368" y="1040775"/>
            <a:ext cx="7772400" cy="718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350D68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>
                <a:latin typeface="Georgia" panose="02040502050405020303" pitchFamily="18" charset="0"/>
                <a:cs typeface="Times New Roman" panose="02020603050405020304" pitchFamily="18" charset="0"/>
              </a:rPr>
              <a:t>Outline</a:t>
            </a:r>
            <a:endParaRPr lang="en-US" sz="2400" b="1">
              <a:latin typeface="Georgia" panose="02040502050405020303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FD969A-AA07-D878-EC8F-60BD3D90D376}"/>
              </a:ext>
            </a:extLst>
          </p:cNvPr>
          <p:cNvSpPr txBox="1">
            <a:spLocks/>
          </p:cNvSpPr>
          <p:nvPr/>
        </p:nvSpPr>
        <p:spPr>
          <a:xfrm>
            <a:off x="1209823" y="3469257"/>
            <a:ext cx="8229600" cy="127752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50D68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rgbClr val="350D68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50D6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350D68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rgbClr val="350D68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Information:</a:t>
            </a:r>
          </a:p>
          <a:p>
            <a:pPr lvl="1"/>
            <a:r>
              <a:rPr lang="en-US" sz="1400"/>
              <a:t>Don’t change the font of the header: it stays Font: Georgia 23 – bold</a:t>
            </a:r>
          </a:p>
          <a:p>
            <a:pPr lvl="1"/>
            <a:r>
              <a:rPr lang="en-US" sz="1400"/>
              <a:t>The text in the text boxes is Font: Calibri (Body) 18</a:t>
            </a:r>
          </a:p>
          <a:p>
            <a:pPr lvl="1"/>
            <a:r>
              <a:rPr lang="en-US" sz="1400"/>
              <a:t>Every new section is introduced with an outline slide where the current section is put into “bold” (see next slide and compare it to this slide)</a:t>
            </a:r>
          </a:p>
        </p:txBody>
      </p:sp>
    </p:spTree>
    <p:extLst>
      <p:ext uri="{BB962C8B-B14F-4D97-AF65-F5344CB8AC3E}">
        <p14:creationId xmlns:p14="http://schemas.microsoft.com/office/powerpoint/2010/main" val="50731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38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7041-23EB-4D5C-AD29-D35699FD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FB9EE-7241-86B6-F55A-96A5DC2C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2567BE-F89D-88D9-A69F-1BA1BD22C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069" y="1758978"/>
            <a:ext cx="8229600" cy="12775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Test 1</a:t>
            </a:r>
            <a:endParaRPr lang="en-US" sz="1800" b="1">
              <a:ea typeface="Calibri"/>
              <a:cs typeface="Calibri"/>
            </a:endParaRPr>
          </a:p>
          <a:p>
            <a:endParaRPr lang="en-US" sz="1800" b="1">
              <a:ea typeface="Calibri"/>
              <a:cs typeface="Calibri"/>
            </a:endParaRPr>
          </a:p>
          <a:p>
            <a:r>
              <a:rPr lang="en-US" sz="1800"/>
              <a:t>Test 2</a:t>
            </a:r>
          </a:p>
          <a:p>
            <a:pPr lvl="1"/>
            <a:endParaRPr lang="en-US" sz="14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D94CB0-9D51-438E-CD7B-94F81BA6EFFE}"/>
              </a:ext>
            </a:extLst>
          </p:cNvPr>
          <p:cNvSpPr txBox="1">
            <a:spLocks/>
          </p:cNvSpPr>
          <p:nvPr/>
        </p:nvSpPr>
        <p:spPr>
          <a:xfrm>
            <a:off x="1076368" y="1040775"/>
            <a:ext cx="7772400" cy="718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350D68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>
                <a:latin typeface="Georgia" panose="02040502050405020303" pitchFamily="18" charset="0"/>
                <a:cs typeface="Times New Roman" panose="02020603050405020304" pitchFamily="18" charset="0"/>
              </a:rPr>
              <a:t>Outline</a:t>
            </a:r>
            <a:endParaRPr lang="en-US" sz="2400" b="1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44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6D28-4CD5-60A7-0B95-B8B418F7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757BD-FC39-2F68-5F91-3D0F0168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045B3F-599D-DD94-82E3-1FF9C95B4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069" y="1758978"/>
            <a:ext cx="8229600" cy="12775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Test 1</a:t>
            </a:r>
            <a:endParaRPr lang="en-US" sz="1800" b="1">
              <a:ea typeface="Calibri"/>
              <a:cs typeface="Calibri"/>
            </a:endParaRPr>
          </a:p>
          <a:p>
            <a:endParaRPr lang="en-US" sz="1800" b="1">
              <a:ea typeface="Calibri"/>
              <a:cs typeface="Calibri"/>
            </a:endParaRPr>
          </a:p>
          <a:p>
            <a:r>
              <a:rPr lang="en-US" sz="1800"/>
              <a:t>Test 2</a:t>
            </a:r>
          </a:p>
          <a:p>
            <a:pPr lvl="1"/>
            <a:endParaRPr lang="en-US" sz="14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E3754E6-5656-E3E9-872E-E47028706762}"/>
              </a:ext>
            </a:extLst>
          </p:cNvPr>
          <p:cNvSpPr txBox="1">
            <a:spLocks/>
          </p:cNvSpPr>
          <p:nvPr/>
        </p:nvSpPr>
        <p:spPr>
          <a:xfrm>
            <a:off x="1076368" y="1040775"/>
            <a:ext cx="7772400" cy="718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350D68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>
                <a:latin typeface="Georgia" panose="02040502050405020303" pitchFamily="18" charset="0"/>
                <a:cs typeface="Times New Roman" panose="02020603050405020304" pitchFamily="18" charset="0"/>
              </a:rPr>
              <a:t>Outline</a:t>
            </a:r>
            <a:endParaRPr lang="en-US" sz="2400" b="1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9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AC5A-41AE-4858-E402-0C79FEC2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416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BDC73-1EC8-06AB-2717-09C890F1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B4725-B3DE-91D6-86C1-7E50FA2F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6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E5EDF-AEF0-A16A-76FE-28CDB16E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508AC-8AAC-A92A-3C5C-6E103060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5D89-284E-FF8A-2263-875D49CB2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8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7041-23EB-4D5C-AD29-D35699FD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CFC0E-0AB9-A427-D2B3-BBA230787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5209" y="1559454"/>
            <a:ext cx="8229600" cy="52985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/>
          </a:p>
          <a:p>
            <a:r>
              <a:rPr lang="en-US" sz="1800"/>
              <a:t>Make sure that all the headers are at the same position for each slide</a:t>
            </a:r>
          </a:p>
          <a:p>
            <a:r>
              <a:rPr lang="en-US" sz="1800">
                <a:ea typeface="Calibri"/>
                <a:cs typeface="Calibri"/>
              </a:rPr>
              <a:t>Figures/Tables:</a:t>
            </a:r>
          </a:p>
          <a:p>
            <a:pPr lvl="1"/>
            <a:r>
              <a:rPr lang="en-US" sz="1400">
                <a:ea typeface="Calibri"/>
                <a:cs typeface="Calibri"/>
              </a:rPr>
              <a:t>1) Download the .pdf file from overleaf with the figure included</a:t>
            </a:r>
          </a:p>
          <a:p>
            <a:pPr lvl="1"/>
            <a:r>
              <a:rPr lang="en-US" sz="1400">
                <a:ea typeface="Calibri"/>
                <a:cs typeface="Calibri"/>
              </a:rPr>
              <a:t>2) </a:t>
            </a:r>
            <a:r>
              <a:rPr lang="de-DE" sz="1400">
                <a:ea typeface="Calibri"/>
                <a:cs typeface="Calibri"/>
              </a:rPr>
              <a:t>Zoom very close to the figure/table</a:t>
            </a:r>
          </a:p>
          <a:p>
            <a:pPr lvl="1"/>
            <a:r>
              <a:rPr lang="de-DE" sz="1400">
                <a:ea typeface="Calibri"/>
                <a:cs typeface="Calibri"/>
              </a:rPr>
              <a:t>3) Take a </a:t>
            </a:r>
            <a:r>
              <a:rPr lang="en-US" sz="1400">
                <a:ea typeface="Calibri"/>
                <a:cs typeface="Calibri"/>
              </a:rPr>
              <a:t>screenshot with snipping tool of the figure/table</a:t>
            </a:r>
          </a:p>
          <a:p>
            <a:pPr lvl="1"/>
            <a:r>
              <a:rPr lang="en-US" sz="1400">
                <a:ea typeface="Calibri"/>
                <a:cs typeface="Calibri"/>
              </a:rPr>
              <a:t>4) The screenshot should show a very crisp figure/table</a:t>
            </a:r>
          </a:p>
          <a:p>
            <a:r>
              <a:rPr lang="en-US" sz="1800">
                <a:ea typeface="Calibri"/>
                <a:cs typeface="Calibri"/>
              </a:rPr>
              <a:t>Same procedure for equations</a:t>
            </a:r>
          </a:p>
          <a:p>
            <a:pPr marL="0" indent="0">
              <a:buNone/>
            </a:pPr>
            <a:endParaRPr lang="en-US" sz="1800"/>
          </a:p>
          <a:p>
            <a:pPr lvl="1"/>
            <a:endParaRPr lang="en-US" sz="1400"/>
          </a:p>
          <a:p>
            <a:pPr lvl="1"/>
            <a:endParaRPr lang="en-US" sz="1400"/>
          </a:p>
          <a:p>
            <a:pPr marL="457200" lvl="1" indent="0">
              <a:buNone/>
            </a:pPr>
            <a:endParaRPr lang="en-US" sz="1400"/>
          </a:p>
          <a:p>
            <a:pPr marL="457200" lvl="1" indent="0">
              <a:buNone/>
            </a:pPr>
            <a:endParaRPr lang="en-US" sz="14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lvl="1"/>
            <a:endParaRPr lang="en-US" sz="1400"/>
          </a:p>
          <a:p>
            <a:endParaRPr lang="en-US" sz="18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FB9EE-7241-86B6-F55A-96A5DC2C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469C8-517F-6340-7CAF-E86F366C8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97" y="4043513"/>
            <a:ext cx="5486982" cy="22873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5F8F77-B042-9175-5880-44C54A1402EC}"/>
              </a:ext>
            </a:extLst>
          </p:cNvPr>
          <p:cNvSpPr txBox="1">
            <a:spLocks/>
          </p:cNvSpPr>
          <p:nvPr/>
        </p:nvSpPr>
        <p:spPr>
          <a:xfrm>
            <a:off x="1076368" y="1040775"/>
            <a:ext cx="7772400" cy="718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350D68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>
                <a:latin typeface="Georgia" panose="02040502050405020303" pitchFamily="18" charset="0"/>
                <a:cs typeface="Times New Roman" panose="02020603050405020304" pitchFamily="18" charset="0"/>
              </a:rPr>
              <a:t>Initial Preparation (Template Header)</a:t>
            </a:r>
            <a:endParaRPr lang="en-US" sz="2400" b="1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90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C71A5-3485-1912-EEA8-8538FE20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AA3B7-4689-AA47-B87F-0C0066A450D7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E9B811-F58F-5DB2-4A5C-36E5F8FD9C2D}"/>
              </a:ext>
            </a:extLst>
          </p:cNvPr>
          <p:cNvSpPr/>
          <p:nvPr/>
        </p:nvSpPr>
        <p:spPr>
          <a:xfrm>
            <a:off x="1157953" y="3455699"/>
            <a:ext cx="3821677" cy="1209854"/>
          </a:xfrm>
          <a:prstGeom prst="rect">
            <a:avLst/>
          </a:prstGeom>
          <a:solidFill>
            <a:srgbClr val="FFFFD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0BD7F-A33B-E365-05F3-EEA16E21C5B1}"/>
              </a:ext>
            </a:extLst>
          </p:cNvPr>
          <p:cNvSpPr txBox="1"/>
          <p:nvPr/>
        </p:nvSpPr>
        <p:spPr>
          <a:xfrm>
            <a:off x="1186528" y="3456598"/>
            <a:ext cx="4257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For detailed discussions:</a:t>
            </a:r>
          </a:p>
          <a:p>
            <a:r>
              <a:rPr lang="en-US" b="1"/>
              <a:t>Adrian Stein:	</a:t>
            </a:r>
            <a:r>
              <a:rPr lang="en-US" b="1">
                <a:hlinkClick r:id="rId2"/>
              </a:rPr>
              <a:t>astein@lsu.edu</a:t>
            </a:r>
            <a:endParaRPr lang="en-US" b="1"/>
          </a:p>
          <a:p>
            <a:r>
              <a:rPr lang="en-US" b="1"/>
              <a:t>…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BDB3D8-1CF8-757A-7B53-1E7225B728FF}"/>
              </a:ext>
            </a:extLst>
          </p:cNvPr>
          <p:cNvCxnSpPr>
            <a:cxnSpLocks/>
          </p:cNvCxnSpPr>
          <p:nvPr/>
        </p:nvCxnSpPr>
        <p:spPr>
          <a:xfrm flipH="1" flipV="1">
            <a:off x="9191843" y="2442045"/>
            <a:ext cx="759124" cy="379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F5255F-B73E-071E-5655-6D79B70E55BA}"/>
              </a:ext>
            </a:extLst>
          </p:cNvPr>
          <p:cNvSpPr txBox="1"/>
          <p:nvPr/>
        </p:nvSpPr>
        <p:spPr>
          <a:xfrm>
            <a:off x="9463950" y="2968851"/>
            <a:ext cx="1749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Logo of sponsor</a:t>
            </a:r>
          </a:p>
          <a:p>
            <a:r>
              <a:rPr lang="en-US">
                <a:solidFill>
                  <a:srgbClr val="FF0000"/>
                </a:solidFill>
              </a:rPr>
              <a:t>(NASA, NSF, etc.)</a:t>
            </a:r>
          </a:p>
        </p:txBody>
      </p:sp>
      <p:pic>
        <p:nvPicPr>
          <p:cNvPr id="11" name="Picture 2" descr="undefined">
            <a:extLst>
              <a:ext uri="{FF2B5EF4-FFF2-40B4-BE49-F238E27FC236}">
                <a16:creationId xmlns:a16="http://schemas.microsoft.com/office/drawing/2014/main" id="{44C629A6-43ED-FC78-A862-975FD759B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740" y="1599495"/>
            <a:ext cx="1406930" cy="117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A332133-0639-DB63-6FD9-CF73027B4C35}"/>
              </a:ext>
            </a:extLst>
          </p:cNvPr>
          <p:cNvSpPr txBox="1">
            <a:spLocks/>
          </p:cNvSpPr>
          <p:nvPr/>
        </p:nvSpPr>
        <p:spPr>
          <a:xfrm>
            <a:off x="1076368" y="1040775"/>
            <a:ext cx="7772400" cy="718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350D68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>
                <a:latin typeface="Georgia" panose="02040502050405020303" pitchFamily="18" charset="0"/>
                <a:cs typeface="Times New Roman" panose="02020603050405020304" pitchFamily="18" charset="0"/>
              </a:rPr>
              <a:t>Conclusions</a:t>
            </a:r>
            <a:endParaRPr lang="en-US" sz="2400" b="1">
              <a:latin typeface="Georgia" panose="02040502050405020303" pitchFamily="18" charset="0"/>
            </a:endParaRPr>
          </a:p>
        </p:txBody>
      </p:sp>
      <p:pic>
        <p:nvPicPr>
          <p:cNvPr id="3" name="Picture 2" descr="A logo of a camera&#10;&#10;AI-generated content may be incorrect.">
            <a:extLst>
              <a:ext uri="{FF2B5EF4-FFF2-40B4-BE49-F238E27FC236}">
                <a16:creationId xmlns:a16="http://schemas.microsoft.com/office/drawing/2014/main" id="{81EB5998-EDDE-7BA2-068E-A807FFCEA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72" y="4945551"/>
            <a:ext cx="4164265" cy="1371793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15E3C3C4-71D0-914F-78B4-5C4E8736D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49" y="6286515"/>
            <a:ext cx="1328420" cy="24638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buNone/>
            </a:pPr>
            <a:r>
              <a:rPr lang="en-US" sz="10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5"/>
              </a:rPr>
              <a:t>www.ctrlstein.com</a:t>
            </a:r>
            <a:endParaRPr lang="en-US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09760"/>
      </p:ext>
    </p:extLst>
  </p:cSld>
  <p:clrMapOvr>
    <a:masterClrMapping/>
  </p:clrMapOvr>
</p:sld>
</file>

<file path=ppt/theme/theme1.xml><?xml version="1.0" encoding="utf-8"?>
<a:theme xmlns:a="http://schemas.openxmlformats.org/drawingml/2006/main" name="LSU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LSU Template.potx</Template>
  <TotalTime>5</TotalTime>
  <Words>283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LSU Template</vt:lpstr>
      <vt:lpstr>Drone Interception via EDMDc-Based Model Predictive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Louisiana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Jewel</dc:creator>
  <cp:lastModifiedBy>Darren A Johnson</cp:lastModifiedBy>
  <cp:revision>9</cp:revision>
  <dcterms:created xsi:type="dcterms:W3CDTF">2015-06-05T16:25:53Z</dcterms:created>
  <dcterms:modified xsi:type="dcterms:W3CDTF">2026-04-16T15:47:34Z</dcterms:modified>
</cp:coreProperties>
</file>